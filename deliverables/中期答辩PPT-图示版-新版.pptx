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914400"/>
            <a:ext cx="7955279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132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72554"/>
                </a:solidFill>
              </a:rPr>
              <a:t>毕业设计中期答辩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7132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D2D2D"/>
                </a:solidFill>
              </a:rPr>
              <a:t>数据基础设施标识管理系统的设计与实现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5303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707070"/>
                </a:solidFill>
              </a:rPr>
              <a:t>学生：__________    学号：__________
专业：__________    日期：2026 年 3 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Midterm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1. 课题背景与问题提出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先回答为什么做，而不是先介绍模块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737360" cy="118872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问题一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数据资源分散
缺少统一标识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417320"/>
            <a:ext cx="1737360" cy="118872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问题二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跨节点环境下
定位与解析困难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17320"/>
            <a:ext cx="1737360" cy="118872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问题三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共享链路不清晰
资源关联弱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1737360" cy="118872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问题四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智能体接入缺少
统一开放接口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7406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现有数据资源通常分散在不同机构、不同节点、不同系统中，名称、路径和管理方式不统一。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当资源跨节点流转时，往往只能知道“有数据”，却难以稳定定位、解析和复用。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因此，本课题聚焦“统一标识 + 数字对象 + 多节点解析 + 开放接入”这一条主线，构建数据基础设施标识管理系统。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7406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5785C"/>
                </a:solidFill>
              </a:rPr>
              <a:t>本页结论：本课题解决的是多节点数据资源“难标识、难解析、难共享、难开放接入”的问题。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2. 研究目标与主要内容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把课题范围收敛到四个可落地目标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目标一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统一标识编码
与校验机制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目标二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数字对象模型
与元数据管理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1732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目标三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多节点解析
与路由协同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1554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目标四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MCP / 智能体
开放接入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7223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设计统一标识规则，支撑注册、校验、解析、删除、更新等核心操作。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构建数字对象模型，建立标识、元数据、资源之间的关联关系。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实现多节点环境下的路由、转发与跨节点解析能力。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通过认证中心、MCP 和 DeepResearch 前端形成可演示的完整系统链路。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42432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5785C"/>
                </a:solidFill>
              </a:rPr>
              <a:t>本页结论：本课题不是做一个普通后台，而是做一套面向数据基础设施场景的标识管理能力底座。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3. 系统总体架构图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用一张图讲清系统分层与模块关系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25296"/>
            <a:ext cx="8001000" cy="49834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80010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389888"/>
            <a:ext cx="1051560" cy="274320"/>
          </a:xfrm>
          <a:prstGeom prst="roundRect">
            <a:avLst/>
          </a:prstGeom>
          <a:solidFill>
            <a:srgbClr val="15785C"/>
          </a:solidFill>
          <a:ln>
            <a:solidFill>
              <a:srgbClr val="15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演示入口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11880"/>
            <a:ext cx="1051560" cy="274320"/>
          </a:xfrm>
          <a:prstGeom prst="round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核心业务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846320"/>
            <a:ext cx="1051560" cy="274320"/>
          </a:xfrm>
          <a:prstGeom prst="roundRect">
            <a:avLst/>
          </a:prstGeom>
          <a:solidFill>
            <a:srgbClr val="C99D3D"/>
          </a:solidFill>
          <a:ln>
            <a:solidFill>
              <a:srgbClr val="C99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72554"/>
                </a:solidFill>
              </a:rPr>
              <a:t>多节点底座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508760"/>
            <a:ext cx="6720840" cy="621792"/>
          </a:xfrm>
          <a:prstGeom prst="roundRect">
            <a:avLst/>
          </a:prstGeom>
          <a:solidFill>
            <a:srgbClr val="ECF1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应用展示层：DeepResearch Frontend / 节点控制台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267712"/>
            <a:ext cx="6080760" cy="621792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研究编排层：DeepResearch Orchestrator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999232"/>
            <a:ext cx="5532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2D2D2D"/>
                </a:solidFill>
              </a:rPr>
              <a:t>开放接入层：DRIS MCP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785615"/>
            <a:ext cx="384048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3730752"/>
            <a:ext cx="3840480" cy="91440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931920"/>
            <a:ext cx="33832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</a:rPr>
              <a:t>业务服务层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60520"/>
            <a:ext cx="3383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72554"/>
                </a:solidFill>
              </a:rPr>
              <a:t>dris-enterprise-backend-v2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785615"/>
            <a:ext cx="242316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57800" y="3730752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3931920"/>
            <a:ext cx="2057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</a:rPr>
              <a:t>认证与访问控制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160520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72554"/>
                </a:solidFill>
              </a:rPr>
              <a:t>dris-auth-center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4974336"/>
            <a:ext cx="2286000" cy="8686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88720" y="4919472"/>
            <a:ext cx="2286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" y="5157216"/>
            <a:ext cx="187451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</a:rPr>
              <a:t>标识核心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94960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72554"/>
                </a:solidFill>
              </a:rPr>
              <a:t>dris-java-sdk-next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76472" y="4974336"/>
            <a:ext cx="2286000" cy="8686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30752" y="4919472"/>
            <a:ext cx="2286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5157216"/>
            <a:ext cx="1874519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</a:rPr>
              <a:t>跨节点协议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5394960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72554"/>
                </a:solidFill>
              </a:rPr>
              <a:t>drirp-java-sdk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8504" y="4974336"/>
            <a:ext cx="1508760" cy="8686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2784" y="4919472"/>
            <a:ext cx="1508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5148072"/>
            <a:ext cx="12801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</a:rPr>
              <a:t>资源存储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394960"/>
            <a:ext cx="11887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</a:rPr>
              <a:t>COS / 外部存储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78424"/>
            <a:ext cx="192024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97280" y="5623560"/>
            <a:ext cx="1920240" cy="365760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0" y="5678424"/>
            <a:ext cx="192024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11880" y="5623560"/>
            <a:ext cx="1920240" cy="365760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5678424"/>
            <a:ext cx="1920240" cy="36576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6480" y="5623560"/>
            <a:ext cx="1920240" cy="365760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40" y="5715000"/>
            <a:ext cx="164592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</a:rPr>
              <a:t>Node A 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5715000"/>
            <a:ext cx="164592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</a:rPr>
              <a:t>Node B Backend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715000"/>
            <a:ext cx="164592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</a:rPr>
              <a:t>Node C Backend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617720" y="3621024"/>
            <a:ext cx="0" cy="82296"/>
          </a:xfrm>
          <a:prstGeom prst="line">
            <a:avLst/>
          </a:prstGeom>
          <a:ln w="3302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331720" y="4681728"/>
            <a:ext cx="822960" cy="237744"/>
          </a:xfrm>
          <a:prstGeom prst="line">
            <a:avLst/>
          </a:prstGeom>
          <a:ln w="25400">
            <a:solidFill>
              <a:srgbClr val="172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26280" y="4681728"/>
            <a:ext cx="274320" cy="237744"/>
          </a:xfrm>
          <a:prstGeom prst="line">
            <a:avLst/>
          </a:prstGeom>
          <a:ln w="25400">
            <a:solidFill>
              <a:srgbClr val="172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355080" y="4572000"/>
            <a:ext cx="640080" cy="347472"/>
          </a:xfrm>
          <a:prstGeom prst="line">
            <a:avLst/>
          </a:prstGeom>
          <a:ln w="25400">
            <a:solidFill>
              <a:srgbClr val="172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331720" y="5468112"/>
            <a:ext cx="0" cy="146304"/>
          </a:xfrm>
          <a:prstGeom prst="line">
            <a:avLst/>
          </a:prstGeom>
          <a:ln w="2286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572000" y="5468112"/>
            <a:ext cx="0" cy="146304"/>
          </a:xfrm>
          <a:prstGeom prst="line">
            <a:avLst/>
          </a:prstGeom>
          <a:ln w="2286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086600" y="5468112"/>
            <a:ext cx="0" cy="146304"/>
          </a:xfrm>
          <a:prstGeom prst="line">
            <a:avLst/>
          </a:prstGeom>
          <a:ln w="2286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2960" y="6355080"/>
            <a:ext cx="749807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5785C"/>
                </a:solidFill>
              </a:rPr>
              <a:t>本页结论：系统采用分层解耦设计，下层提供标识与协议能力，中层承载业务，上层支持认证、MCP 和前端接入。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4. 核心类图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只画最核心的领域模型，不展示实现层细节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001000" cy="49834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80010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408176"/>
            <a:ext cx="1097280" cy="274320"/>
          </a:xfrm>
          <a:prstGeom prst="roundRect">
            <a:avLst/>
          </a:prstGeom>
          <a:solidFill>
            <a:srgbClr val="15785C"/>
          </a:solidFill>
          <a:ln>
            <a:solidFill>
              <a:srgbClr val="15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领域模型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83664"/>
            <a:ext cx="1920240" cy="17830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9202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011680"/>
            <a:ext cx="822960" cy="219456"/>
          </a:xfrm>
          <a:prstGeom prst="roundRect">
            <a:avLst/>
          </a:prstGeom>
          <a:solidFill>
            <a:srgbClr val="ECF1FA"/>
          </a:solidFill>
          <a:ln>
            <a:solidFill>
              <a:srgbClr val="EC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72554"/>
                </a:solidFill>
              </a:rPr>
              <a:t>入口对象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72554"/>
                </a:solidFill>
              </a:rPr>
              <a:t>Identifier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33472"/>
            <a:ext cx="1508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D2D2D"/>
                </a:solidFill>
              </a:rPr>
              <a:t>value
regionCode
organizationCode
checkCode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79" y="1655064"/>
            <a:ext cx="3063240" cy="233172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1600200"/>
            <a:ext cx="3063240" cy="233172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54680" y="1828800"/>
            <a:ext cx="914400" cy="219456"/>
          </a:xfrm>
          <a:prstGeom prst="round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聚合根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139696"/>
            <a:ext cx="2423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72554"/>
                </a:solidFill>
              </a:rPr>
              <a:t>DigitalObject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578608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D2D2D"/>
                </a:solidFill>
              </a:rPr>
              <a:t>identifier
metadata
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83664"/>
            <a:ext cx="1783080" cy="17830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1783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2011680"/>
            <a:ext cx="868680" cy="219456"/>
          </a:xfrm>
          <a:prstGeom prst="roundRect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72554"/>
                </a:solidFill>
              </a:rPr>
              <a:t>描述信息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286000"/>
            <a:ext cx="1463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72554"/>
                </a:solidFill>
              </a:rPr>
              <a:t>IdentifierMetadata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33472"/>
            <a:ext cx="1417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D2D2D"/>
                </a:solidFill>
              </a:rPr>
              <a:t>name
description
owner
industry
dataCategory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306824"/>
            <a:ext cx="1783080" cy="141732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40" y="4251960"/>
            <a:ext cx="1783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30752" y="4425696"/>
            <a:ext cx="822960" cy="219456"/>
          </a:xfrm>
          <a:prstGeom prst="roundRect">
            <a:avLst/>
          </a:prstGeom>
          <a:solidFill>
            <a:srgbClr val="C99D3D"/>
          </a:solidFill>
          <a:ln>
            <a:solidFill>
              <a:srgbClr val="C99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72554"/>
                </a:solidFill>
              </a:rPr>
              <a:t>资源实体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7" y="4700016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72554"/>
                </a:solidFill>
              </a:rPr>
              <a:t>Resource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974336"/>
            <a:ext cx="135331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D2D2D"/>
                </a:solidFill>
              </a:rPr>
              <a:t>resourceType
storageType
locator
size/hash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88920" y="2697480"/>
            <a:ext cx="91440" cy="0"/>
          </a:xfrm>
          <a:prstGeom prst="line">
            <a:avLst/>
          </a:prstGeom>
          <a:ln w="3048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43600" y="2697480"/>
            <a:ext cx="274320" cy="0"/>
          </a:xfrm>
          <a:prstGeom prst="line">
            <a:avLst/>
          </a:prstGeom>
          <a:ln w="3048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89120" y="3931920"/>
            <a:ext cx="0" cy="292608"/>
          </a:xfrm>
          <a:prstGeom prst="line">
            <a:avLst/>
          </a:prstGeom>
          <a:ln w="3048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828800" y="2514600"/>
            <a:ext cx="77724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07070"/>
                </a:solidFill>
              </a:rPr>
              <a:t>resolves 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2514600"/>
            <a:ext cx="6583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07070"/>
                </a:solidFill>
              </a:rPr>
              <a:t>contains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53712" y="4005072"/>
            <a:ext cx="658368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07070"/>
                </a:solidFill>
              </a:rPr>
              <a:t>contains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215383"/>
            <a:ext cx="2148840" cy="96012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97880" y="4160520"/>
            <a:ext cx="2148840" cy="960120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4370832"/>
            <a:ext cx="1737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07070"/>
                </a:solidFill>
              </a:rPr>
              <a:t>设计含义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4599432"/>
            <a:ext cx="17190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72554"/>
                </a:solidFill>
              </a:rPr>
              <a:t>解析标识后，不仅返回元数据，还能进一步关联真实资源或服务入口。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541264"/>
            <a:ext cx="7360920" cy="41148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60" y="5486400"/>
            <a:ext cx="7360920" cy="411480"/>
          </a:xfrm>
          <a:prstGeom prst="roundRect">
            <a:avLst/>
          </a:prstGeom>
          <a:solidFill>
            <a:srgbClr val="ECF1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577840"/>
            <a:ext cx="69494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</a:rPr>
              <a:t>标识是入口，数字对象是聚合根，元数据负责描述，资源负责承载实体访问能力。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5. 关键时序图：跨节点标识解析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突出系统从单节点解析向多节点协同解析的扩展能力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97864"/>
            <a:ext cx="8001000" cy="5029200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80010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353312"/>
            <a:ext cx="1143000" cy="274320"/>
          </a:xfrm>
          <a:prstGeom prst="roundRect">
            <a:avLst/>
          </a:prstGeom>
          <a:solidFill>
            <a:srgbClr val="15785C"/>
          </a:solidFill>
          <a:ln>
            <a:solidFill>
              <a:srgbClr val="15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关键链路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92224"/>
            <a:ext cx="1234440" cy="53035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1234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1097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</a:rPr>
              <a:t>前端/调用方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2377440"/>
            <a:ext cx="347472" cy="3154680"/>
          </a:xfrm>
          <a:prstGeom prst="rect">
            <a:avLst/>
          </a:prstGeom>
          <a:solidFill>
            <a:srgbClr val="FAFC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435608" y="2331720"/>
            <a:ext cx="0" cy="3291840"/>
          </a:xfrm>
          <a:prstGeom prst="line">
            <a:avLst/>
          </a:prstGeom>
          <a:ln w="15240">
            <a:solidFill>
              <a:srgbClr val="B0B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88920" y="1792224"/>
            <a:ext cx="1234440" cy="53035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1737360"/>
            <a:ext cx="1234440" cy="530352"/>
          </a:xfrm>
          <a:prstGeom prst="roundRect">
            <a:avLst/>
          </a:prstGeom>
          <a:solidFill>
            <a:srgbClr val="ECF1FA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920240"/>
            <a:ext cx="1097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</a:rPr>
              <a:t>当前节点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2377440"/>
            <a:ext cx="347472" cy="3154680"/>
          </a:xfrm>
          <a:prstGeom prst="rect">
            <a:avLst/>
          </a:prstGeom>
          <a:solidFill>
            <a:srgbClr val="F1F7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355848" y="2331720"/>
            <a:ext cx="0" cy="3291840"/>
          </a:xfrm>
          <a:prstGeom prst="line">
            <a:avLst/>
          </a:prstGeom>
          <a:ln w="15240">
            <a:solidFill>
              <a:srgbClr val="B0B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09159" y="1792224"/>
            <a:ext cx="1234440" cy="53035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3440" y="1737360"/>
            <a:ext cx="1234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1920240"/>
            <a:ext cx="1097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</a:rPr>
              <a:t>路由管理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02352" y="2377440"/>
            <a:ext cx="347472" cy="3154680"/>
          </a:xfrm>
          <a:prstGeom prst="rect">
            <a:avLst/>
          </a:prstGeom>
          <a:solidFill>
            <a:srgbClr val="FAFC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276088" y="2331720"/>
            <a:ext cx="0" cy="3291840"/>
          </a:xfrm>
          <a:prstGeom prst="line">
            <a:avLst/>
          </a:prstGeom>
          <a:ln w="15240">
            <a:solidFill>
              <a:srgbClr val="B0B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629400" y="1792224"/>
            <a:ext cx="1234440" cy="53035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0" y="1737360"/>
            <a:ext cx="12344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1920240"/>
            <a:ext cx="1097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</a:rPr>
              <a:t>相邻节点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22592" y="2377440"/>
            <a:ext cx="347472" cy="3154680"/>
          </a:xfrm>
          <a:prstGeom prst="rect">
            <a:avLst/>
          </a:prstGeom>
          <a:solidFill>
            <a:srgbClr val="FAFCFF"/>
          </a:solidFill>
          <a:ln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196328" y="2331720"/>
            <a:ext cx="0" cy="3291840"/>
          </a:xfrm>
          <a:prstGeom prst="line">
            <a:avLst/>
          </a:prstGeom>
          <a:ln w="15240">
            <a:solidFill>
              <a:srgbClr val="B0B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75688" y="2057400"/>
            <a:ext cx="128016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194560" y="1847088"/>
            <a:ext cx="100584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D2D2D"/>
                </a:solidFill>
              </a:rPr>
              <a:t>1. 发起解析请求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55848" y="2651760"/>
            <a:ext cx="0" cy="0"/>
          </a:xfrm>
          <a:prstGeom prst="line">
            <a:avLst/>
          </a:prstGeom>
          <a:ln w="27940">
            <a:solidFill>
              <a:srgbClr val="C99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474720" y="2441448"/>
            <a:ext cx="100584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D2D2D"/>
                </a:solidFill>
              </a:rPr>
              <a:t>2. 本地查询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355848" y="3246120"/>
            <a:ext cx="192024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474720" y="3035808"/>
            <a:ext cx="1508759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D2D2D"/>
                </a:solidFill>
              </a:rPr>
              <a:t>3. 查询候选下一跳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3355848" y="3840480"/>
            <a:ext cx="192024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474720" y="3630168"/>
            <a:ext cx="1508759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D2D2D"/>
                </a:solidFill>
              </a:rPr>
              <a:t>4. 返回路由信息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55848" y="4480560"/>
            <a:ext cx="384048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74720" y="4270248"/>
            <a:ext cx="342900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D2D2D"/>
                </a:solidFill>
              </a:rPr>
              <a:t>5. DRIRP 远端解析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3355848" y="5074920"/>
            <a:ext cx="384048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474720" y="4864607"/>
            <a:ext cx="342900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D2D2D"/>
                </a:solidFill>
              </a:rPr>
              <a:t>6. 返回解析结果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2075688" y="5669280"/>
            <a:ext cx="1280160" cy="0"/>
          </a:xfrm>
          <a:prstGeom prst="line">
            <a:avLst/>
          </a:prstGeom>
          <a:ln w="27940">
            <a:solidFill>
              <a:srgbClr val="15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194560" y="5458968"/>
            <a:ext cx="1005840" cy="2011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D2D2D"/>
                </a:solidFill>
              </a:rPr>
              <a:t>7. 汇总结果返回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5705855"/>
            <a:ext cx="7452360" cy="347472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60" y="5650992"/>
            <a:ext cx="7452360" cy="347472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733288"/>
            <a:ext cx="71323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554"/>
                </a:solidFill>
              </a:rPr>
              <a:t>本地优先，未命中再跨节点转发，这是系统分布式解析能力的核心体现。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6. 目前已完成情况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中期阶段重点证明：系统不是停留在设计，而是已经可运行、可联调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模块完成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SDK / 协议
后端 / 认证
MCP / 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链路打通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注册
解析
资源绑定
搜索 / 审计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2588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多节点联调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本地 6 节点
路由 / 跨节点解析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25880"/>
            <a:ext cx="1554480" cy="1325880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测试结果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36 项
35 项通过
97.22%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已完成新一代 DRIS 核心 SDK 与 DRIRP 协议 SDK 重构，保留标识规则、核心模型和协议消息能力。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已完成企业后端主要接口：标识注册、数字对象解析、资源绑定、搜索、审计、节点路由、跨节点批量解析。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已完成认证中心、MCP 服务、DeepResearch 编排器与前端工作台的联通。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已完成本地 6 节点部署联调，系统主链路已具备运行和演示条件。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5785C"/>
                </a:solidFill>
              </a:rPr>
              <a:t>本页结论：当前系统已经从“方案设计阶段”推进到“可运行、可联调、可演示阶段”。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7. 当前问题、解决方案与后续计划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中期答辩要明确：还差什么、怎么补、何时完成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331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当前问题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1. 上传完成阶段的实体校验仍需加强
2. 前端展示与交互仍需优化
3. 多节点鲁棒性与实验数据仍需补充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417320"/>
            <a:ext cx="2743200" cy="3566160"/>
          </a:xfrm>
          <a:prstGeom prst="roundRect">
            <a:avLst/>
          </a:prstGeom>
          <a:solidFill>
            <a:srgbClr val="E9F1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对应方案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1. 增加对象存在性、大小一致性和摘要校验
2. 完善节点拓扑、标识管理、资源绑定、审计等页面
3. 继续优化状态探测、连接复用与测试样例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2331720" cy="3566160"/>
          </a:xfrm>
          <a:prstGeom prst="roundRect">
            <a:avLst/>
          </a:prstGeom>
          <a:solidFill>
            <a:srgbClr val="E8F5EE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2554"/>
                </a:solidFill>
              </a:rPr>
              <a:t>后续安排</a:t>
            </a:r>
          </a:p>
          <a:p>
            <a:pPr algn="ctr"/>
            <a:r>
              <a:rPr sz="1500">
                <a:solidFill>
                  <a:srgbClr val="2D2D2D"/>
                </a:solidFill>
              </a:rPr>
              <a:t>3 月中下旬：问题收口与页面优化
4 月：实验测试与论文第四、五章
5 月：论文定稿与最终答辩准备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04688"/>
            <a:ext cx="74066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5785C"/>
                </a:solidFill>
              </a:rPr>
              <a:t>本页结论：后续工作重点不是再铺新功能，而是围绕可靠性、展示性和论文材料做系统收口。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554"/>
                </a:solidFill>
              </a:rPr>
              <a:t>8. 中期总结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07070"/>
                </a:solidFill>
              </a:rPr>
              <a:t>最后只回答三件事：解决什么问题、做到什么程度、后续怎么完成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7269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本课题面向多节点数据资源场景，聚焦统一标识、数字对象组织、跨节点解析与开放接入问题。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目前已完成系统总体架构设计和核心模块实现，形成了可运行、可联调、可演示的数据基础设施标识管理系统原型。</a:t>
            </a:r>
          </a:p>
          <a:p>
            <a:pPr>
              <a:spcAft>
                <a:spcPts val="800"/>
              </a:spcAft>
              <a:defRPr sz="2000">
                <a:solidFill>
                  <a:srgbClr val="2D2D2D"/>
                </a:solidFill>
              </a:defRPr>
            </a:pPr>
            <a:r>
              <a:t>后续将重点完善资源可信校验、前端展示、实验评估和论文撰写，按计划推进最终答辩。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8348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15785C"/>
                </a:solidFill>
              </a:rPr>
              <a:t>谢谢各位老师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046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07070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